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59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450340"/>
            <a:ext cx="10566400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450340"/>
            <a:ext cx="10566400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</a:t>
            </a:r>
            <a:endParaRPr lang="en-US" sz="4400" dirty="0"/>
          </a:p>
          <a:p>
            <a:pPr marL="0" indent="0" algn="l">
              <a:lnSpc>
                <a:spcPts val="4840"/>
              </a:lnSpc>
              <a:buNone/>
            </a:pP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2181860"/>
            <a:ext cx="10883392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Convolutional Neural Network pipeline, walked through with a small image of numbers.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9150" y="2866390"/>
            <a:ext cx="1430814" cy="1209040"/>
          </a:xfrm>
          <a:prstGeom prst="roundRect">
            <a:avLst>
              <a:gd name="adj" fmla="val 78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59706" y="3048000"/>
            <a:ext cx="149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8678" y="3373120"/>
            <a:ext cx="11117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5159" y="3680460"/>
            <a:ext cx="1158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numbers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19814" y="329311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43664" y="2866390"/>
            <a:ext cx="1430893" cy="1209040"/>
          </a:xfrm>
          <a:prstGeom prst="roundRect">
            <a:avLst>
              <a:gd name="adj" fmla="val 78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84220" y="3048000"/>
            <a:ext cx="149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39842" y="3373120"/>
            <a:ext cx="12385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ReLU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8256" y="3680460"/>
            <a:ext cx="7217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44407" y="329311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68257" y="2866390"/>
            <a:ext cx="1430814" cy="1209040"/>
          </a:xfrm>
          <a:prstGeom prst="roundRect">
            <a:avLst>
              <a:gd name="adj" fmla="val 78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08813" y="3048000"/>
            <a:ext cx="149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0476" y="3373120"/>
            <a:ext cx="7263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465" y="3680460"/>
            <a:ext cx="8943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8921" y="329311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92771" y="2866390"/>
            <a:ext cx="1430893" cy="1209040"/>
          </a:xfrm>
          <a:prstGeom prst="roundRect">
            <a:avLst>
              <a:gd name="adj" fmla="val 78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33327" y="3048000"/>
            <a:ext cx="149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83470" y="3373120"/>
            <a:ext cx="64941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16883" y="3680460"/>
            <a:ext cx="7826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vector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3514" y="329311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17364" y="2750820"/>
            <a:ext cx="1430893" cy="1440180"/>
          </a:xfrm>
          <a:prstGeom prst="roundRect">
            <a:avLst>
              <a:gd name="adj" fmla="val 665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57920" y="2932430"/>
            <a:ext cx="149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71974" y="3257550"/>
            <a:ext cx="132167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49940" y="3796030"/>
            <a:ext cx="9657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18107" y="329311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941957" y="2866390"/>
            <a:ext cx="1430893" cy="1209040"/>
          </a:xfrm>
          <a:prstGeom prst="roundRect">
            <a:avLst>
              <a:gd name="adj" fmla="val 78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82513" y="3048000"/>
            <a:ext cx="1497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66545" y="3373120"/>
            <a:ext cx="7817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30446" y="3680460"/>
            <a:ext cx="8539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Image (as numbers)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7607" y="139954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5×5 grayscale image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4820"/>
          <a:ext cx="2281240" cy="2717800"/>
        </p:xfrm>
        <a:graphic>
          <a:graphicData uri="http://schemas.openxmlformats.org/drawingml/2006/table">
            <a:tbl>
              <a:tblPr/>
              <a:tblGrid>
                <a:gridCol w="456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339148" y="2150110"/>
            <a:ext cx="6517481" cy="1551940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419666" y="2357120"/>
            <a:ext cx="6359209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doesn't see a picture, it sees a 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of pixel numbers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pixel is a number: 0 = black, 255 = white.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colour image has 3 grids: 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G, B channels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values are used here to keep the maths simple.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Convolution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09455" y="1399541"/>
            <a:ext cx="521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4821"/>
          <a:ext cx="2104630" cy="2273300"/>
        </p:xfrm>
        <a:graphic>
          <a:graphicData uri="http://schemas.openxmlformats.org/drawingml/2006/table">
            <a:tbl>
              <a:tblPr/>
              <a:tblGrid>
                <a:gridCol w="420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156188" y="2454911"/>
            <a:ext cx="18923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712178" y="1854200"/>
            <a:ext cx="1085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3×3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33378" y="2189480"/>
          <a:ext cx="1453038" cy="1363980"/>
        </p:xfrm>
        <a:graphic>
          <a:graphicData uri="http://schemas.openxmlformats.org/drawingml/2006/table">
            <a:tbl>
              <a:tblPr/>
              <a:tblGrid>
                <a:gridCol w="48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215017" y="2454911"/>
            <a:ext cx="25852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5748576" y="1854200"/>
            <a:ext cx="126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</a:t>
            </a:r>
            <a:endParaRPr lang="en-US" sz="14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1501" y="2189480"/>
          <a:ext cx="1453038" cy="1363980"/>
        </p:xfrm>
        <a:graphic>
          <a:graphicData uri="http://schemas.openxmlformats.org/drawingml/2006/table">
            <a:tbl>
              <a:tblPr/>
              <a:tblGrid>
                <a:gridCol w="48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19150" y="4268470"/>
            <a:ext cx="10553700" cy="1267460"/>
          </a:xfrm>
          <a:prstGeom prst="roundRect">
            <a:avLst>
              <a:gd name="adj" fmla="val 751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99668" y="4475480"/>
            <a:ext cx="1051651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slides over the image, multiplying and summing at each position.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value: 3·1 + 1·0 + 0·(−1) + 2·1 + 0·0 + 1·(−1) + 4·1 + 1·0 + 0·(−1) = </a:t>
            </a: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size = 5 − 3 + 1 = 3, so 3×3 (stride 1, no padding).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ReLU Activation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4807" y="1399541"/>
            <a:ext cx="126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4821"/>
          <a:ext cx="1622583" cy="1630680"/>
        </p:xfrm>
        <a:graphic>
          <a:graphicData uri="http://schemas.openxmlformats.org/drawingml/2006/table">
            <a:tbl>
              <a:tblPr/>
              <a:tblGrid>
                <a:gridCol w="54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674144" y="213360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390591" y="1399541"/>
            <a:ext cx="1114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ReLU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8504" y="1734821"/>
          <a:ext cx="1368744" cy="1630680"/>
        </p:xfrm>
        <a:graphic>
          <a:graphicData uri="http://schemas.openxmlformats.org/drawingml/2006/table">
            <a:tbl>
              <a:tblPr/>
              <a:tblGrid>
                <a:gridCol w="456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19150" y="3625850"/>
            <a:ext cx="10553700" cy="1267460"/>
          </a:xfrm>
          <a:prstGeom prst="roundRect">
            <a:avLst>
              <a:gd name="adj" fmla="val 7515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99668" y="3832861"/>
            <a:ext cx="1051651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max(0, x)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numbers become 0; positive numbers stay the same.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adds non-linearity so the network can learn complex patterns.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Pooling Layer (Max Pooling)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99539"/>
            <a:ext cx="17010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output 3×3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4821"/>
          <a:ext cx="1407399" cy="1630680"/>
        </p:xfrm>
        <a:graphic>
          <a:graphicData uri="http://schemas.openxmlformats.org/drawingml/2006/table">
            <a:tbl>
              <a:tblPr/>
              <a:tblGrid>
                <a:gridCol w="46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458958" y="213360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043158" y="1671321"/>
            <a:ext cx="1132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2×2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53318" y="2006599"/>
          <a:ext cx="933608" cy="1087120"/>
        </p:xfrm>
        <a:graphic>
          <a:graphicData uri="http://schemas.openxmlformats.org/drawingml/2006/table">
            <a:tbl>
              <a:tblPr/>
              <a:tblGrid>
                <a:gridCol w="46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19150" y="3625850"/>
            <a:ext cx="10553700" cy="1267460"/>
          </a:xfrm>
          <a:prstGeom prst="roundRect">
            <a:avLst>
              <a:gd name="adj" fmla="val 751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99668" y="3832861"/>
            <a:ext cx="10516515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2×2 window keeps only the </a:t>
            </a: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number</a:t>
            </a: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window: max(8, 0, 4, 0) = </a:t>
            </a: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size, less computation, and small shifts in the image matter less.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Flatten + Fully Connected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99539"/>
            <a:ext cx="1132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2×2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4821"/>
          <a:ext cx="933608" cy="1087120"/>
        </p:xfrm>
        <a:graphic>
          <a:graphicData uri="http://schemas.openxmlformats.org/drawingml/2006/table">
            <a:tbl>
              <a:tblPr/>
              <a:tblGrid>
                <a:gridCol w="46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985169" y="1861821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942122" y="1640839"/>
            <a:ext cx="158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= vector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75719" y="1972311"/>
            <a:ext cx="569436" cy="6019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157855" y="1972311"/>
            <a:ext cx="569436" cy="6019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739991" y="1972311"/>
            <a:ext cx="569436" cy="6019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322128" y="1972311"/>
            <a:ext cx="569436" cy="6019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86099"/>
          <a:ext cx="10556241" cy="188976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Logit z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0.3, 0.1, 0.2, 0.1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0.1, 0.2, 0.1, 0.3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0.0, 0.4, 0.1, 0.2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2800" y="5229861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turns the 2D grid into a 1D list. Each neuron multiplies every input by its weight and sums them. Cat: 8·0.3 + 0·0.1 + 4·0.2 + 1·0.1 = 3.3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98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Softmax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99539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softmax(zᵢ) = e^zᵢ / Σ e^zⱼ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2009139"/>
            <a:ext cx="939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54200" y="2016761"/>
            <a:ext cx="4629150" cy="304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35750" y="2009139"/>
            <a:ext cx="54911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2481582"/>
            <a:ext cx="939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54200" y="2489200"/>
            <a:ext cx="742950" cy="304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9550" y="2481582"/>
            <a:ext cx="54911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2954021"/>
            <a:ext cx="939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54200" y="2961639"/>
            <a:ext cx="285750" cy="304800"/>
          </a:xfrm>
          <a:prstGeom prst="roundRect">
            <a:avLst>
              <a:gd name="adj" fmla="val 17778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92350" y="2954021"/>
            <a:ext cx="39652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9150" y="3534411"/>
            <a:ext cx="10553700" cy="982980"/>
          </a:xfrm>
          <a:prstGeom prst="roundRect">
            <a:avLst>
              <a:gd name="adj" fmla="val 969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9668" y="3741421"/>
            <a:ext cx="105165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logits 3.3, 1.5, 0.6 into probabilities that sum to ≈ 100%.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with the highest probability is the prediction: </a:t>
            </a: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(81%)</a:t>
            </a: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N Architecture - Step by Step">
  <a:themeElements>
    <a:clrScheme name="CNN Architecture - Step by Step">
      <a:dk1>
        <a:srgbClr val="0F172A"/>
      </a:dk1>
      <a:lt1>
        <a:srgbClr val="F1F5F9"/>
      </a:lt1>
      <a:dk2>
        <a:srgbClr val="262D3F"/>
      </a:dk2>
      <a:lt2>
        <a:srgbClr val="B9BEC5"/>
      </a:lt2>
      <a:accent1>
        <a:srgbClr val="38BDF8"/>
      </a:accent1>
      <a:accent2>
        <a:srgbClr val="FBBF24"/>
      </a:accent2>
      <a:accent3>
        <a:srgbClr val="B45309"/>
      </a:accent3>
      <a:accent4>
        <a:srgbClr val="9AA0A6"/>
      </a:accent4>
      <a:accent5>
        <a:srgbClr val="979CA6"/>
      </a:accent5>
      <a:accent6>
        <a:srgbClr val="757B87"/>
      </a:accent6>
      <a:hlink>
        <a:srgbClr val="0563C1"/>
      </a:hlink>
      <a:folHlink>
        <a:srgbClr val="954F72"/>
      </a:folHlink>
    </a:clrScheme>
    <a:fontScheme name="CNN Architecture - Step by Ste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195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CNN Architecture - Step by Step</vt:lpstr>
      <vt:lpstr>CNN Architecture </vt:lpstr>
      <vt:lpstr>1. Input Image (as numbers)</vt:lpstr>
      <vt:lpstr>2. Convolution Layer</vt:lpstr>
      <vt:lpstr>3. ReLU Activation</vt:lpstr>
      <vt:lpstr>4. Pooling Layer (Max Pooling)</vt:lpstr>
      <vt:lpstr>5. Flatten + Fully Connected</vt:lpstr>
      <vt:lpstr>6. Softmax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Architecture - Step by Step</dc:title>
  <dc:subject/>
  <dc:creator/>
  <cp:lastModifiedBy>SP26-PCS-002 (ATIQUE UR RAHMAN)</cp:lastModifiedBy>
  <cp:revision>2</cp:revision>
  <dcterms:created xsi:type="dcterms:W3CDTF">2026-10-15T18:35:36Z</dcterms:created>
  <dcterms:modified xsi:type="dcterms:W3CDTF">2026-10-15T18:36:31Z</dcterms:modified>
</cp:coreProperties>
</file>